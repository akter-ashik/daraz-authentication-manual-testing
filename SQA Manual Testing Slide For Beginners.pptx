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roxima Nova Condensed Bold" charset="1" panose="02000506030000020004"/>
      <p:regular r:id="rId15"/>
    </p:embeddedFont>
    <p:embeddedFont>
      <p:font typeface="Touvlo" charset="1" panose="020B0604030403020204"/>
      <p:regular r:id="rId16"/>
    </p:embeddedFont>
    <p:embeddedFont>
      <p:font typeface="Touvlo Bold" charset="1" panose="020B0804030403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8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31029" y="7154512"/>
            <a:ext cx="4824827" cy="4824827"/>
          </a:xfrm>
          <a:custGeom>
            <a:avLst/>
            <a:gdLst/>
            <a:ahLst/>
            <a:cxnLst/>
            <a:rect r="r" b="b" t="t" l="l"/>
            <a:pathLst>
              <a:path h="4824827" w="4824827">
                <a:moveTo>
                  <a:pt x="0" y="0"/>
                </a:moveTo>
                <a:lnTo>
                  <a:pt x="4824828" y="0"/>
                </a:lnTo>
                <a:lnTo>
                  <a:pt x="4824828" y="4824827"/>
                </a:lnTo>
                <a:lnTo>
                  <a:pt x="0" y="4824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9018" y="-1385642"/>
            <a:ext cx="10489681" cy="1644729"/>
            <a:chOff x="0" y="0"/>
            <a:chExt cx="2591920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91920" cy="406400"/>
            </a:xfrm>
            <a:custGeom>
              <a:avLst/>
              <a:gdLst/>
              <a:ahLst/>
              <a:cxnLst/>
              <a:rect r="r" b="b" t="t" l="l"/>
              <a:pathLst>
                <a:path h="406400" w="2591920">
                  <a:moveTo>
                    <a:pt x="2388720" y="0"/>
                  </a:moveTo>
                  <a:cubicBezTo>
                    <a:pt x="2500944" y="0"/>
                    <a:pt x="2591920" y="90976"/>
                    <a:pt x="2591920" y="203200"/>
                  </a:cubicBezTo>
                  <a:cubicBezTo>
                    <a:pt x="2591920" y="315424"/>
                    <a:pt x="2500944" y="406400"/>
                    <a:pt x="23887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5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9192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4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5328001">
            <a:off x="-2148585" y="-757964"/>
            <a:ext cx="3144702" cy="3144702"/>
          </a:xfrm>
          <a:custGeom>
            <a:avLst/>
            <a:gdLst/>
            <a:ahLst/>
            <a:cxnLst/>
            <a:rect r="r" b="b" t="t" l="l"/>
            <a:pathLst>
              <a:path h="3144702" w="3144702">
                <a:moveTo>
                  <a:pt x="3144702" y="0"/>
                </a:moveTo>
                <a:lnTo>
                  <a:pt x="0" y="0"/>
                </a:lnTo>
                <a:lnTo>
                  <a:pt x="0" y="3144702"/>
                </a:lnTo>
                <a:lnTo>
                  <a:pt x="3144702" y="3144702"/>
                </a:lnTo>
                <a:lnTo>
                  <a:pt x="31447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94910" y="259087"/>
            <a:ext cx="2293090" cy="2293090"/>
          </a:xfrm>
          <a:custGeom>
            <a:avLst/>
            <a:gdLst/>
            <a:ahLst/>
            <a:cxnLst/>
            <a:rect r="r" b="b" t="t" l="l"/>
            <a:pathLst>
              <a:path h="2293090" w="2293090">
                <a:moveTo>
                  <a:pt x="0" y="0"/>
                </a:moveTo>
                <a:lnTo>
                  <a:pt x="2293090" y="0"/>
                </a:lnTo>
                <a:lnTo>
                  <a:pt x="2293090" y="2293091"/>
                </a:lnTo>
                <a:lnTo>
                  <a:pt x="0" y="22930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76234" y="8043150"/>
            <a:ext cx="2721717" cy="2721717"/>
          </a:xfrm>
          <a:custGeom>
            <a:avLst/>
            <a:gdLst/>
            <a:ahLst/>
            <a:cxnLst/>
            <a:rect r="r" b="b" t="t" l="l"/>
            <a:pathLst>
              <a:path h="2721717" w="2721717">
                <a:moveTo>
                  <a:pt x="0" y="0"/>
                </a:moveTo>
                <a:lnTo>
                  <a:pt x="2721717" y="0"/>
                </a:lnTo>
                <a:lnTo>
                  <a:pt x="2721717" y="2721717"/>
                </a:lnTo>
                <a:lnTo>
                  <a:pt x="0" y="2721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405878" y="3267344"/>
            <a:ext cx="11476244" cy="2525809"/>
            <a:chOff x="0" y="0"/>
            <a:chExt cx="15301659" cy="336774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19075"/>
              <a:ext cx="15301659" cy="2114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1523"/>
                </a:lnSpc>
              </a:pPr>
              <a:r>
                <a:rPr lang="en-US" b="true" sz="11523">
                  <a:solidFill>
                    <a:srgbClr val="08091A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SQA Manual Testing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669575"/>
              <a:ext cx="15301659" cy="698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8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178080" y="-4174624"/>
            <a:ext cx="2211047" cy="12617694"/>
            <a:chOff x="0" y="0"/>
            <a:chExt cx="647480" cy="36949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480" cy="3694947"/>
            </a:xfrm>
            <a:custGeom>
              <a:avLst/>
              <a:gdLst/>
              <a:ahLst/>
              <a:cxnLst/>
              <a:rect r="r" b="b" t="t" l="l"/>
              <a:pathLst>
                <a:path h="3694947" w="647480">
                  <a:moveTo>
                    <a:pt x="215943" y="19070"/>
                  </a:moveTo>
                  <a:cubicBezTo>
                    <a:pt x="249031" y="7556"/>
                    <a:pt x="286876" y="0"/>
                    <a:pt x="323914" y="0"/>
                  </a:cubicBezTo>
                  <a:cubicBezTo>
                    <a:pt x="360954" y="0"/>
                    <a:pt x="396595" y="6476"/>
                    <a:pt x="429440" y="17990"/>
                  </a:cubicBezTo>
                  <a:cubicBezTo>
                    <a:pt x="430139" y="18350"/>
                    <a:pt x="430838" y="18350"/>
                    <a:pt x="431536" y="18710"/>
                  </a:cubicBezTo>
                  <a:cubicBezTo>
                    <a:pt x="554883" y="64765"/>
                    <a:pt x="645733" y="186379"/>
                    <a:pt x="647480" y="392523"/>
                  </a:cubicBezTo>
                  <a:lnTo>
                    <a:pt x="647480" y="3694947"/>
                  </a:lnTo>
                  <a:lnTo>
                    <a:pt x="0" y="3694947"/>
                  </a:lnTo>
                  <a:lnTo>
                    <a:pt x="0" y="394973"/>
                  </a:lnTo>
                  <a:cubicBezTo>
                    <a:pt x="1747" y="185660"/>
                    <a:pt x="91199" y="64045"/>
                    <a:pt x="215943" y="19070"/>
                  </a:cubicBezTo>
                  <a:close/>
                </a:path>
              </a:pathLst>
            </a:custGeom>
            <a:solidFill>
              <a:srgbClr val="FFF5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8425"/>
              <a:ext cx="647480" cy="3596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7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437444" y="7150166"/>
            <a:ext cx="4216268" cy="4216268"/>
          </a:xfrm>
          <a:custGeom>
            <a:avLst/>
            <a:gdLst/>
            <a:ahLst/>
            <a:cxnLst/>
            <a:rect r="r" b="b" t="t" l="l"/>
            <a:pathLst>
              <a:path h="4216268" w="4216268">
                <a:moveTo>
                  <a:pt x="4216269" y="0"/>
                </a:moveTo>
                <a:lnTo>
                  <a:pt x="0" y="0"/>
                </a:lnTo>
                <a:lnTo>
                  <a:pt x="0" y="4216268"/>
                </a:lnTo>
                <a:lnTo>
                  <a:pt x="4216269" y="4216268"/>
                </a:lnTo>
                <a:lnTo>
                  <a:pt x="42162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374971" y="-4545824"/>
            <a:ext cx="4149706" cy="7980204"/>
          </a:xfrm>
          <a:custGeom>
            <a:avLst/>
            <a:gdLst/>
            <a:ahLst/>
            <a:cxnLst/>
            <a:rect r="r" b="b" t="t" l="l"/>
            <a:pathLst>
              <a:path h="7980204" w="4149706">
                <a:moveTo>
                  <a:pt x="0" y="0"/>
                </a:moveTo>
                <a:lnTo>
                  <a:pt x="4149706" y="0"/>
                </a:lnTo>
                <a:lnTo>
                  <a:pt x="4149706" y="7980203"/>
                </a:lnTo>
                <a:lnTo>
                  <a:pt x="0" y="7980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7755" y="1633430"/>
            <a:ext cx="10114695" cy="85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10"/>
              </a:lnSpc>
            </a:pPr>
            <a:r>
              <a:rPr lang="en-US" b="true" sz="6410">
                <a:solidFill>
                  <a:srgbClr val="08091A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Introduction to Manual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41" y="4426645"/>
            <a:ext cx="15754317" cy="203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10"/>
              </a:lnSpc>
              <a:spcBef>
                <a:spcPct val="0"/>
              </a:spcBef>
            </a:pPr>
            <a:r>
              <a:rPr lang="en-US" sz="3864" u="none">
                <a:solidFill>
                  <a:srgbClr val="08091A"/>
                </a:solidFill>
                <a:latin typeface="Touvlo"/>
                <a:ea typeface="Touvlo"/>
                <a:cs typeface="Touvlo"/>
                <a:sym typeface="Touvlo"/>
              </a:rPr>
              <a:t>Manual testing is essential for ensuring software quality, focusing on understanding user needs, improving functionality, and providing a seamless experience for end-users.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25490" y="9338838"/>
            <a:ext cx="948162" cy="948162"/>
          </a:xfrm>
          <a:custGeom>
            <a:avLst/>
            <a:gdLst/>
            <a:ahLst/>
            <a:cxnLst/>
            <a:rect r="r" b="b" t="t" l="l"/>
            <a:pathLst>
              <a:path h="948162" w="948162">
                <a:moveTo>
                  <a:pt x="0" y="0"/>
                </a:moveTo>
                <a:lnTo>
                  <a:pt x="948162" y="0"/>
                </a:lnTo>
                <a:lnTo>
                  <a:pt x="948162" y="948162"/>
                </a:lnTo>
                <a:lnTo>
                  <a:pt x="0" y="9481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8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86615" y="849939"/>
            <a:ext cx="7872685" cy="8587122"/>
            <a:chOff x="0" y="0"/>
            <a:chExt cx="2073464" cy="2261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3465" cy="2261629"/>
            </a:xfrm>
            <a:custGeom>
              <a:avLst/>
              <a:gdLst/>
              <a:ahLst/>
              <a:cxnLst/>
              <a:rect r="r" b="b" t="t" l="l"/>
              <a:pathLst>
                <a:path h="2261629" w="2073465">
                  <a:moveTo>
                    <a:pt x="59003" y="0"/>
                  </a:moveTo>
                  <a:lnTo>
                    <a:pt x="2014461" y="0"/>
                  </a:lnTo>
                  <a:cubicBezTo>
                    <a:pt x="2030110" y="0"/>
                    <a:pt x="2045118" y="6216"/>
                    <a:pt x="2056183" y="17282"/>
                  </a:cubicBezTo>
                  <a:cubicBezTo>
                    <a:pt x="2067248" y="28347"/>
                    <a:pt x="2073465" y="43355"/>
                    <a:pt x="2073465" y="59003"/>
                  </a:cubicBezTo>
                  <a:lnTo>
                    <a:pt x="2073465" y="2202625"/>
                  </a:lnTo>
                  <a:cubicBezTo>
                    <a:pt x="2073465" y="2218274"/>
                    <a:pt x="2067248" y="2233282"/>
                    <a:pt x="2056183" y="2244347"/>
                  </a:cubicBezTo>
                  <a:cubicBezTo>
                    <a:pt x="2045118" y="2255412"/>
                    <a:pt x="2030110" y="2261629"/>
                    <a:pt x="2014461" y="2261629"/>
                  </a:cubicBezTo>
                  <a:lnTo>
                    <a:pt x="59003" y="2261629"/>
                  </a:lnTo>
                  <a:cubicBezTo>
                    <a:pt x="43355" y="2261629"/>
                    <a:pt x="28347" y="2255412"/>
                    <a:pt x="17282" y="2244347"/>
                  </a:cubicBezTo>
                  <a:cubicBezTo>
                    <a:pt x="6216" y="2233282"/>
                    <a:pt x="0" y="2218274"/>
                    <a:pt x="0" y="2202625"/>
                  </a:cubicBezTo>
                  <a:lnTo>
                    <a:pt x="0" y="59003"/>
                  </a:lnTo>
                  <a:cubicBezTo>
                    <a:pt x="0" y="43355"/>
                    <a:pt x="6216" y="28347"/>
                    <a:pt x="17282" y="17282"/>
                  </a:cubicBezTo>
                  <a:cubicBezTo>
                    <a:pt x="28347" y="6216"/>
                    <a:pt x="43355" y="0"/>
                    <a:pt x="59003" y="0"/>
                  </a:cubicBezTo>
                  <a:close/>
                </a:path>
              </a:pathLst>
            </a:custGeom>
            <a:solidFill>
              <a:srgbClr val="FFF5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73464" cy="2299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91295" y="6406014"/>
            <a:ext cx="131885" cy="131885"/>
          </a:xfrm>
          <a:custGeom>
            <a:avLst/>
            <a:gdLst/>
            <a:ahLst/>
            <a:cxnLst/>
            <a:rect r="r" b="b" t="t" l="l"/>
            <a:pathLst>
              <a:path h="131885" w="131885">
                <a:moveTo>
                  <a:pt x="0" y="0"/>
                </a:moveTo>
                <a:lnTo>
                  <a:pt x="131884" y="0"/>
                </a:lnTo>
                <a:lnTo>
                  <a:pt x="131884" y="131884"/>
                </a:lnTo>
                <a:lnTo>
                  <a:pt x="0" y="1318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400000">
            <a:off x="-722587" y="-1163382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4107318" y="0"/>
                </a:moveTo>
                <a:lnTo>
                  <a:pt x="0" y="0"/>
                </a:lnTo>
                <a:lnTo>
                  <a:pt x="0" y="4114800"/>
                </a:lnTo>
                <a:lnTo>
                  <a:pt x="4107318" y="4114800"/>
                </a:lnTo>
                <a:lnTo>
                  <a:pt x="41073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8187" y="3653382"/>
            <a:ext cx="7687376" cy="275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08091A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Key Principles of Manual Testing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38801" y="2087839"/>
            <a:ext cx="7203456" cy="6034982"/>
            <a:chOff x="0" y="0"/>
            <a:chExt cx="9604608" cy="804664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9525"/>
              <a:ext cx="9604608" cy="1489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439"/>
                </a:lnSpc>
              </a:pPr>
              <a:r>
                <a:rPr lang="en-US" b="true" sz="3699">
                  <a:solidFill>
                    <a:srgbClr val="08091A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Understanding the core principles of testing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991928"/>
              <a:ext cx="9604608" cy="6054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61342" indent="-280671" lvl="1">
                <a:lnSpc>
                  <a:spcPts val="36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6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Early testing</a:t>
              </a:r>
              <a:r>
                <a:rPr lang="en-US" sz="26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identifies issues before release</a:t>
              </a:r>
            </a:p>
            <a:p>
              <a:pPr algn="just" marL="561342" indent="-280671" lvl="1">
                <a:lnSpc>
                  <a:spcPts val="36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6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Tester independence</a:t>
              </a:r>
              <a:r>
                <a:rPr lang="en-US" sz="26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ensures unbiased evaluations</a:t>
              </a:r>
            </a:p>
            <a:p>
              <a:pPr algn="just" marL="561342" indent="-280671" lvl="1">
                <a:lnSpc>
                  <a:spcPts val="36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6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Defect clustering</a:t>
              </a:r>
              <a:r>
                <a:rPr lang="en-US" sz="26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highlights areas needing attention</a:t>
              </a:r>
            </a:p>
            <a:p>
              <a:pPr algn="just" marL="561342" indent="-280671" lvl="1">
                <a:lnSpc>
                  <a:spcPts val="36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6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Pesticide paradox</a:t>
              </a:r>
              <a:r>
                <a:rPr lang="en-US" sz="26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emphasizes diverse test cases</a:t>
              </a:r>
            </a:p>
            <a:p>
              <a:pPr algn="just" marL="561342" indent="-280671" lvl="1">
                <a:lnSpc>
                  <a:spcPts val="36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6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Testing is context dependent</a:t>
              </a:r>
              <a:r>
                <a:rPr lang="en-US" sz="26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for effective results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8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86615" y="849939"/>
            <a:ext cx="7872685" cy="8587122"/>
            <a:chOff x="0" y="0"/>
            <a:chExt cx="2073464" cy="2261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3465" cy="2261629"/>
            </a:xfrm>
            <a:custGeom>
              <a:avLst/>
              <a:gdLst/>
              <a:ahLst/>
              <a:cxnLst/>
              <a:rect r="r" b="b" t="t" l="l"/>
              <a:pathLst>
                <a:path h="2261629" w="2073465">
                  <a:moveTo>
                    <a:pt x="59003" y="0"/>
                  </a:moveTo>
                  <a:lnTo>
                    <a:pt x="2014461" y="0"/>
                  </a:lnTo>
                  <a:cubicBezTo>
                    <a:pt x="2030110" y="0"/>
                    <a:pt x="2045118" y="6216"/>
                    <a:pt x="2056183" y="17282"/>
                  </a:cubicBezTo>
                  <a:cubicBezTo>
                    <a:pt x="2067248" y="28347"/>
                    <a:pt x="2073465" y="43355"/>
                    <a:pt x="2073465" y="59003"/>
                  </a:cubicBezTo>
                  <a:lnTo>
                    <a:pt x="2073465" y="2202625"/>
                  </a:lnTo>
                  <a:cubicBezTo>
                    <a:pt x="2073465" y="2218274"/>
                    <a:pt x="2067248" y="2233282"/>
                    <a:pt x="2056183" y="2244347"/>
                  </a:cubicBezTo>
                  <a:cubicBezTo>
                    <a:pt x="2045118" y="2255412"/>
                    <a:pt x="2030110" y="2261629"/>
                    <a:pt x="2014461" y="2261629"/>
                  </a:cubicBezTo>
                  <a:lnTo>
                    <a:pt x="59003" y="2261629"/>
                  </a:lnTo>
                  <a:cubicBezTo>
                    <a:pt x="43355" y="2261629"/>
                    <a:pt x="28347" y="2255412"/>
                    <a:pt x="17282" y="2244347"/>
                  </a:cubicBezTo>
                  <a:cubicBezTo>
                    <a:pt x="6216" y="2233282"/>
                    <a:pt x="0" y="2218274"/>
                    <a:pt x="0" y="2202625"/>
                  </a:cubicBezTo>
                  <a:lnTo>
                    <a:pt x="0" y="59003"/>
                  </a:lnTo>
                  <a:cubicBezTo>
                    <a:pt x="0" y="43355"/>
                    <a:pt x="6216" y="28347"/>
                    <a:pt x="17282" y="17282"/>
                  </a:cubicBezTo>
                  <a:cubicBezTo>
                    <a:pt x="28347" y="6216"/>
                    <a:pt x="43355" y="0"/>
                    <a:pt x="59003" y="0"/>
                  </a:cubicBezTo>
                  <a:close/>
                </a:path>
              </a:pathLst>
            </a:custGeom>
            <a:solidFill>
              <a:srgbClr val="FFF5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73464" cy="2299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5400000">
            <a:off x="-722587" y="-1163382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4107318" y="0"/>
                </a:moveTo>
                <a:lnTo>
                  <a:pt x="0" y="0"/>
                </a:lnTo>
                <a:lnTo>
                  <a:pt x="0" y="4114800"/>
                </a:lnTo>
                <a:lnTo>
                  <a:pt x="4107318" y="4114800"/>
                </a:lnTo>
                <a:lnTo>
                  <a:pt x="41073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1701" y="4176712"/>
            <a:ext cx="7687376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8100">
                <a:solidFill>
                  <a:srgbClr val="08091A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Types of Manual Testing Techniques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116885" y="3294793"/>
            <a:ext cx="6412145" cy="4221289"/>
            <a:chOff x="0" y="0"/>
            <a:chExt cx="8549527" cy="562838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9525"/>
              <a:ext cx="8549527" cy="688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b="true" sz="3499">
                  <a:solidFill>
                    <a:srgbClr val="08091A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An overview of key testing methods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1641"/>
              <a:ext cx="8549527" cy="44367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3" indent="-259082" lvl="1">
                <a:lnSpc>
                  <a:spcPts val="336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Black Box Testing:</a:t>
              </a:r>
              <a:r>
                <a:rPr lang="en-US" sz="24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Focus on input and output</a:t>
              </a:r>
            </a:p>
            <a:p>
              <a:pPr algn="l" marL="518163" indent="-259082" lvl="1">
                <a:lnSpc>
                  <a:spcPts val="336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White Box Testing:</a:t>
              </a:r>
              <a:r>
                <a:rPr lang="en-US" sz="24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Internal structure and code review</a:t>
              </a:r>
            </a:p>
            <a:p>
              <a:pPr algn="l" marL="518163" indent="-259082" lvl="1">
                <a:lnSpc>
                  <a:spcPts val="336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Gray Box Testing:</a:t>
              </a:r>
              <a:r>
                <a:rPr lang="en-US" sz="24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Combination of black and white box</a:t>
              </a:r>
            </a:p>
            <a:p>
              <a:pPr algn="l" marL="518163" indent="-259082" lvl="1">
                <a:lnSpc>
                  <a:spcPts val="336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Exploratory Testing:</a:t>
              </a:r>
              <a:r>
                <a:rPr lang="en-US" sz="24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Testing without formal test cases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8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05313" y="4005364"/>
            <a:ext cx="2462645" cy="246264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2B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10223" y="4005364"/>
            <a:ext cx="2462645" cy="24626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2B2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15132" y="4005364"/>
            <a:ext cx="2462645" cy="24626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2B2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20041" y="4005364"/>
            <a:ext cx="2462645" cy="24626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2B2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967959" y="5236686"/>
            <a:ext cx="1142264" cy="0"/>
          </a:xfrm>
          <a:prstGeom prst="line">
            <a:avLst/>
          </a:prstGeom>
          <a:ln cap="rnd" w="38100">
            <a:solidFill>
              <a:srgbClr val="372B26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572868" y="5236686"/>
            <a:ext cx="1142264" cy="0"/>
          </a:xfrm>
          <a:prstGeom prst="line">
            <a:avLst/>
          </a:prstGeom>
          <a:ln cap="rnd" w="38100">
            <a:solidFill>
              <a:srgbClr val="372B26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2177777" y="5236686"/>
            <a:ext cx="1142264" cy="0"/>
          </a:xfrm>
          <a:prstGeom prst="line">
            <a:avLst/>
          </a:prstGeom>
          <a:ln cap="rnd" w="38100">
            <a:solidFill>
              <a:srgbClr val="372B26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2505313" y="7057014"/>
            <a:ext cx="2462645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08091A"/>
                </a:solidFill>
                <a:latin typeface="Touvlo"/>
                <a:ea typeface="Touvlo"/>
                <a:cs typeface="Touvlo"/>
                <a:sym typeface="Touvlo"/>
              </a:rPr>
              <a:t>Gather and analyze test requirements.</a:t>
            </a:r>
          </a:p>
        </p:txBody>
      </p:sp>
      <p:sp>
        <p:nvSpPr>
          <p:cNvPr name="AutoShape 18" id="18"/>
          <p:cNvSpPr/>
          <p:nvPr/>
        </p:nvSpPr>
        <p:spPr>
          <a:xfrm>
            <a:off x="3736636" y="6468009"/>
            <a:ext cx="0" cy="636630"/>
          </a:xfrm>
          <a:prstGeom prst="line">
            <a:avLst/>
          </a:prstGeom>
          <a:ln cap="flat" w="19050">
            <a:solidFill>
              <a:srgbClr val="372B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6110223" y="7556238"/>
            <a:ext cx="2462645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08091A"/>
                </a:solidFill>
                <a:latin typeface="Touvlo"/>
                <a:ea typeface="Touvlo"/>
                <a:cs typeface="Touvlo"/>
                <a:sym typeface="Touvlo"/>
              </a:rPr>
              <a:t>Define test strategy and scope.</a:t>
            </a:r>
          </a:p>
        </p:txBody>
      </p:sp>
      <p:sp>
        <p:nvSpPr>
          <p:cNvPr name="AutoShape 20" id="20"/>
          <p:cNvSpPr/>
          <p:nvPr/>
        </p:nvSpPr>
        <p:spPr>
          <a:xfrm flipH="true">
            <a:off x="7341545" y="6468009"/>
            <a:ext cx="0" cy="1135854"/>
          </a:xfrm>
          <a:prstGeom prst="line">
            <a:avLst/>
          </a:prstGeom>
          <a:ln cap="flat" w="19050">
            <a:solidFill>
              <a:srgbClr val="372B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9715132" y="7768573"/>
            <a:ext cx="2462645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08091A"/>
                </a:solidFill>
                <a:latin typeface="Touvlo"/>
                <a:ea typeface="Touvlo"/>
                <a:cs typeface="Touvlo"/>
                <a:sym typeface="Touvlo"/>
              </a:rPr>
              <a:t>Create detailed test cases and scripts.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0946455" y="6468009"/>
            <a:ext cx="0" cy="1348189"/>
          </a:xfrm>
          <a:prstGeom prst="line">
            <a:avLst/>
          </a:prstGeom>
          <a:ln cap="flat" w="19050">
            <a:solidFill>
              <a:srgbClr val="372B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3320041" y="8155522"/>
            <a:ext cx="2462645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08091A"/>
                </a:solidFill>
                <a:latin typeface="Touvlo"/>
                <a:ea typeface="Touvlo"/>
                <a:cs typeface="Touvlo"/>
                <a:sym typeface="Touvlo"/>
              </a:rPr>
              <a:t>Execute tests and report results.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4551364" y="6468009"/>
            <a:ext cx="0" cy="1735138"/>
          </a:xfrm>
          <a:prstGeom prst="line">
            <a:avLst/>
          </a:prstGeom>
          <a:ln cap="flat" w="19050">
            <a:solidFill>
              <a:srgbClr val="372B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-317672" y="-232734"/>
            <a:ext cx="18923343" cy="3674381"/>
            <a:chOff x="0" y="0"/>
            <a:chExt cx="4983926" cy="96773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83926" cy="967738"/>
            </a:xfrm>
            <a:custGeom>
              <a:avLst/>
              <a:gdLst/>
              <a:ahLst/>
              <a:cxnLst/>
              <a:rect r="r" b="b" t="t" l="l"/>
              <a:pathLst>
                <a:path h="967738" w="4983926">
                  <a:moveTo>
                    <a:pt x="0" y="0"/>
                  </a:moveTo>
                  <a:lnTo>
                    <a:pt x="4983926" y="0"/>
                  </a:lnTo>
                  <a:lnTo>
                    <a:pt x="4983926" y="967738"/>
                  </a:lnTo>
                  <a:lnTo>
                    <a:pt x="0" y="967738"/>
                  </a:lnTo>
                  <a:close/>
                </a:path>
              </a:pathLst>
            </a:custGeom>
            <a:solidFill>
              <a:srgbClr val="F9B07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983926" cy="1015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-2745975" y="4039705"/>
            <a:ext cx="4856607" cy="4856607"/>
          </a:xfrm>
          <a:custGeom>
            <a:avLst/>
            <a:gdLst/>
            <a:ahLst/>
            <a:cxnLst/>
            <a:rect r="r" b="b" t="t" l="l"/>
            <a:pathLst>
              <a:path h="4856607" w="4856607">
                <a:moveTo>
                  <a:pt x="0" y="0"/>
                </a:moveTo>
                <a:lnTo>
                  <a:pt x="4856607" y="0"/>
                </a:lnTo>
                <a:lnTo>
                  <a:pt x="4856607" y="4856608"/>
                </a:lnTo>
                <a:lnTo>
                  <a:pt x="0" y="4856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030337" y="3719860"/>
            <a:ext cx="5679627" cy="5679627"/>
          </a:xfrm>
          <a:custGeom>
            <a:avLst/>
            <a:gdLst/>
            <a:ahLst/>
            <a:cxnLst/>
            <a:rect r="r" b="b" t="t" l="l"/>
            <a:pathLst>
              <a:path h="5679627" w="5679627">
                <a:moveTo>
                  <a:pt x="0" y="0"/>
                </a:moveTo>
                <a:lnTo>
                  <a:pt x="5679627" y="0"/>
                </a:lnTo>
                <a:lnTo>
                  <a:pt x="5679627" y="5679627"/>
                </a:lnTo>
                <a:lnTo>
                  <a:pt x="0" y="567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28700" y="1214026"/>
            <a:ext cx="9772570" cy="1059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74"/>
              </a:lnSpc>
              <a:spcBef>
                <a:spcPct val="0"/>
              </a:spcBef>
            </a:pPr>
            <a:r>
              <a:rPr lang="en-US" b="true" sz="7974" strike="noStrike" u="none">
                <a:solidFill>
                  <a:srgbClr val="08091A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Manual Testing Lifecycle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10603" y="1370774"/>
            <a:ext cx="508152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08091A"/>
                </a:solidFill>
                <a:latin typeface="Touvlo"/>
                <a:ea typeface="Touvlo"/>
                <a:cs typeface="Touvlo"/>
                <a:sym typeface="Touvlo"/>
              </a:rPr>
              <a:t>Key milestones in the testing process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52702" y="4985226"/>
            <a:ext cx="1967868" cy="93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FCF0F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Requirements Analysis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284342" y="4985226"/>
            <a:ext cx="2114407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FCF0F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Test Planning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18559" y="4985226"/>
            <a:ext cx="2055792" cy="93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FCF0F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Test Case Development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50199" y="4985226"/>
            <a:ext cx="2202330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699" strike="noStrike" u="none">
                <a:solidFill>
                  <a:srgbClr val="FCF0F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Test Execution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8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0070" y="-500849"/>
            <a:ext cx="7526776" cy="11288699"/>
            <a:chOff x="0" y="0"/>
            <a:chExt cx="1982361" cy="297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2361" cy="2973155"/>
            </a:xfrm>
            <a:custGeom>
              <a:avLst/>
              <a:gdLst/>
              <a:ahLst/>
              <a:cxnLst/>
              <a:rect r="r" b="b" t="t" l="l"/>
              <a:pathLst>
                <a:path h="2973155" w="1982361">
                  <a:moveTo>
                    <a:pt x="61715" y="0"/>
                  </a:moveTo>
                  <a:lnTo>
                    <a:pt x="1920646" y="0"/>
                  </a:lnTo>
                  <a:cubicBezTo>
                    <a:pt x="1937014" y="0"/>
                    <a:pt x="1952711" y="6502"/>
                    <a:pt x="1964285" y="18076"/>
                  </a:cubicBezTo>
                  <a:cubicBezTo>
                    <a:pt x="1975859" y="29650"/>
                    <a:pt x="1982361" y="45347"/>
                    <a:pt x="1982361" y="61715"/>
                  </a:cubicBezTo>
                  <a:lnTo>
                    <a:pt x="1982361" y="2911440"/>
                  </a:lnTo>
                  <a:cubicBezTo>
                    <a:pt x="1982361" y="2927808"/>
                    <a:pt x="1975859" y="2943505"/>
                    <a:pt x="1964285" y="2955079"/>
                  </a:cubicBezTo>
                  <a:cubicBezTo>
                    <a:pt x="1952711" y="2966653"/>
                    <a:pt x="1937014" y="2973155"/>
                    <a:pt x="1920646" y="2973155"/>
                  </a:cubicBezTo>
                  <a:lnTo>
                    <a:pt x="61715" y="2973155"/>
                  </a:lnTo>
                  <a:cubicBezTo>
                    <a:pt x="45347" y="2973155"/>
                    <a:pt x="29650" y="2966653"/>
                    <a:pt x="18076" y="2955079"/>
                  </a:cubicBezTo>
                  <a:cubicBezTo>
                    <a:pt x="6502" y="2943505"/>
                    <a:pt x="0" y="2927808"/>
                    <a:pt x="0" y="2911440"/>
                  </a:cubicBezTo>
                  <a:lnTo>
                    <a:pt x="0" y="61715"/>
                  </a:lnTo>
                  <a:cubicBezTo>
                    <a:pt x="0" y="45347"/>
                    <a:pt x="6502" y="29650"/>
                    <a:pt x="18076" y="18076"/>
                  </a:cubicBezTo>
                  <a:cubicBezTo>
                    <a:pt x="29650" y="6502"/>
                    <a:pt x="45347" y="0"/>
                    <a:pt x="61715" y="0"/>
                  </a:cubicBezTo>
                  <a:close/>
                </a:path>
              </a:pathLst>
            </a:custGeom>
            <a:solidFill>
              <a:srgbClr val="372B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82361" cy="3001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64300" y="2382749"/>
            <a:ext cx="6295000" cy="2244901"/>
            <a:chOff x="0" y="0"/>
            <a:chExt cx="113959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9599" cy="406400"/>
            </a:xfrm>
            <a:custGeom>
              <a:avLst/>
              <a:gdLst/>
              <a:ahLst/>
              <a:cxnLst/>
              <a:rect r="r" b="b" t="t" l="l"/>
              <a:pathLst>
                <a:path h="406400" w="1139599">
                  <a:moveTo>
                    <a:pt x="936399" y="0"/>
                  </a:moveTo>
                  <a:cubicBezTo>
                    <a:pt x="1048624" y="0"/>
                    <a:pt x="1139599" y="90976"/>
                    <a:pt x="1139599" y="203200"/>
                  </a:cubicBezTo>
                  <a:cubicBezTo>
                    <a:pt x="1139599" y="315424"/>
                    <a:pt x="1048624" y="406400"/>
                    <a:pt x="93639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1139599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86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4098" y="2382749"/>
            <a:ext cx="4489803" cy="2244901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2B2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8128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868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64300" y="5659349"/>
            <a:ext cx="6295000" cy="2244901"/>
            <a:chOff x="0" y="0"/>
            <a:chExt cx="1139599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9599" cy="406400"/>
            </a:xfrm>
            <a:custGeom>
              <a:avLst/>
              <a:gdLst/>
              <a:ahLst/>
              <a:cxnLst/>
              <a:rect r="r" b="b" t="t" l="l"/>
              <a:pathLst>
                <a:path h="406400" w="1139599">
                  <a:moveTo>
                    <a:pt x="936399" y="0"/>
                  </a:moveTo>
                  <a:cubicBezTo>
                    <a:pt x="1048624" y="0"/>
                    <a:pt x="1139599" y="90976"/>
                    <a:pt x="1139599" y="203200"/>
                  </a:cubicBezTo>
                  <a:cubicBezTo>
                    <a:pt x="1139599" y="315424"/>
                    <a:pt x="1048624" y="406400"/>
                    <a:pt x="93639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1139599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86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4098" y="5659349"/>
            <a:ext cx="4489803" cy="2244901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2B2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14300"/>
              <a:ext cx="812800" cy="52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868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914941" y="8228101"/>
            <a:ext cx="6783529" cy="6783529"/>
          </a:xfrm>
          <a:custGeom>
            <a:avLst/>
            <a:gdLst/>
            <a:ahLst/>
            <a:cxnLst/>
            <a:rect r="r" b="b" t="t" l="l"/>
            <a:pathLst>
              <a:path h="6783529" w="6783529">
                <a:moveTo>
                  <a:pt x="0" y="0"/>
                </a:moveTo>
                <a:lnTo>
                  <a:pt x="6783529" y="0"/>
                </a:lnTo>
                <a:lnTo>
                  <a:pt x="6783529" y="6783528"/>
                </a:lnTo>
                <a:lnTo>
                  <a:pt x="0" y="6783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3245716"/>
            <a:ext cx="5621921" cy="191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1"/>
              </a:lnSpc>
              <a:spcBef>
                <a:spcPct val="0"/>
              </a:spcBef>
            </a:pPr>
            <a:r>
              <a:rPr lang="en-US" b="true" sz="7411" strike="noStrike" u="none">
                <a:solidFill>
                  <a:srgbClr val="FCF0F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Metrics in Manual Testing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977003"/>
            <a:ext cx="5621921" cy="860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3"/>
              </a:lnSpc>
              <a:spcBef>
                <a:spcPct val="0"/>
              </a:spcBef>
            </a:pPr>
            <a:r>
              <a:rPr lang="en-US" sz="2481" u="none">
                <a:solidFill>
                  <a:srgbClr val="FCF0F0"/>
                </a:solidFill>
                <a:latin typeface="Touvlo"/>
                <a:ea typeface="Touvlo"/>
                <a:cs typeface="Touvlo"/>
                <a:sym typeface="Touvlo"/>
              </a:rPr>
              <a:t>Understanding key metrics for effective quality assurance practices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028664" y="2979712"/>
            <a:ext cx="3585862" cy="1050977"/>
            <a:chOff x="0" y="0"/>
            <a:chExt cx="4781149" cy="140130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38100"/>
              <a:ext cx="4781149" cy="668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0"/>
                </a:lnSpc>
                <a:spcBef>
                  <a:spcPct val="0"/>
                </a:spcBef>
              </a:pPr>
              <a:r>
                <a:rPr lang="en-US" b="true" sz="3500" strike="noStrike" u="none">
                  <a:solidFill>
                    <a:srgbClr val="08091A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Test Cases Executed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939924"/>
              <a:ext cx="4781149" cy="461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77"/>
                </a:lnSpc>
              </a:pPr>
              <a:r>
                <a:rPr lang="en-US" sz="2126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Total test cases run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209201" y="6126683"/>
            <a:ext cx="3585862" cy="1422452"/>
            <a:chOff x="0" y="0"/>
            <a:chExt cx="4781149" cy="1896602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38100"/>
              <a:ext cx="4781149" cy="668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0"/>
                </a:lnSpc>
              </a:pPr>
              <a:r>
                <a:rPr lang="en-US" b="true" sz="3500">
                  <a:solidFill>
                    <a:srgbClr val="08091A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Defect Density Rate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939924"/>
              <a:ext cx="4781149" cy="956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77"/>
                </a:lnSpc>
              </a:pPr>
              <a:r>
                <a:rPr lang="en-US" sz="2126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Proportion of defects found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447562" y="2897734"/>
            <a:ext cx="4042876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CF0F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1,200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47562" y="6174334"/>
            <a:ext cx="4042876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FCF0F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85%</a:t>
            </a:r>
          </a:p>
        </p:txBody>
      </p:sp>
      <p:sp>
        <p:nvSpPr>
          <p:cNvPr name="Freeform 28" id="28"/>
          <p:cNvSpPr/>
          <p:nvPr/>
        </p:nvSpPr>
        <p:spPr>
          <a:xfrm flipH="true" flipV="false" rot="5400000">
            <a:off x="-1445023" y="-1466447"/>
            <a:ext cx="4216268" cy="4216268"/>
          </a:xfrm>
          <a:custGeom>
            <a:avLst/>
            <a:gdLst/>
            <a:ahLst/>
            <a:cxnLst/>
            <a:rect r="r" b="b" t="t" l="l"/>
            <a:pathLst>
              <a:path h="4216268" w="4216268">
                <a:moveTo>
                  <a:pt x="4216268" y="0"/>
                </a:moveTo>
                <a:lnTo>
                  <a:pt x="0" y="0"/>
                </a:lnTo>
                <a:lnTo>
                  <a:pt x="0" y="4216268"/>
                </a:lnTo>
                <a:lnTo>
                  <a:pt x="4216268" y="4216268"/>
                </a:lnTo>
                <a:lnTo>
                  <a:pt x="42162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8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0070" y="-500849"/>
            <a:ext cx="7526776" cy="11288699"/>
            <a:chOff x="0" y="0"/>
            <a:chExt cx="1982361" cy="2973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2361" cy="2973155"/>
            </a:xfrm>
            <a:custGeom>
              <a:avLst/>
              <a:gdLst/>
              <a:ahLst/>
              <a:cxnLst/>
              <a:rect r="r" b="b" t="t" l="l"/>
              <a:pathLst>
                <a:path h="2973155" w="1982361">
                  <a:moveTo>
                    <a:pt x="61715" y="0"/>
                  </a:moveTo>
                  <a:lnTo>
                    <a:pt x="1920646" y="0"/>
                  </a:lnTo>
                  <a:cubicBezTo>
                    <a:pt x="1937014" y="0"/>
                    <a:pt x="1952711" y="6502"/>
                    <a:pt x="1964285" y="18076"/>
                  </a:cubicBezTo>
                  <a:cubicBezTo>
                    <a:pt x="1975859" y="29650"/>
                    <a:pt x="1982361" y="45347"/>
                    <a:pt x="1982361" y="61715"/>
                  </a:cubicBezTo>
                  <a:lnTo>
                    <a:pt x="1982361" y="2911440"/>
                  </a:lnTo>
                  <a:cubicBezTo>
                    <a:pt x="1982361" y="2927808"/>
                    <a:pt x="1975859" y="2943505"/>
                    <a:pt x="1964285" y="2955079"/>
                  </a:cubicBezTo>
                  <a:cubicBezTo>
                    <a:pt x="1952711" y="2966653"/>
                    <a:pt x="1937014" y="2973155"/>
                    <a:pt x="1920646" y="2973155"/>
                  </a:cubicBezTo>
                  <a:lnTo>
                    <a:pt x="61715" y="2973155"/>
                  </a:lnTo>
                  <a:cubicBezTo>
                    <a:pt x="45347" y="2973155"/>
                    <a:pt x="29650" y="2966653"/>
                    <a:pt x="18076" y="2955079"/>
                  </a:cubicBezTo>
                  <a:cubicBezTo>
                    <a:pt x="6502" y="2943505"/>
                    <a:pt x="0" y="2927808"/>
                    <a:pt x="0" y="2911440"/>
                  </a:cubicBezTo>
                  <a:lnTo>
                    <a:pt x="0" y="61715"/>
                  </a:lnTo>
                  <a:cubicBezTo>
                    <a:pt x="0" y="45347"/>
                    <a:pt x="6502" y="29650"/>
                    <a:pt x="18076" y="18076"/>
                  </a:cubicBezTo>
                  <a:cubicBezTo>
                    <a:pt x="29650" y="6502"/>
                    <a:pt x="45347" y="0"/>
                    <a:pt x="61715" y="0"/>
                  </a:cubicBezTo>
                  <a:close/>
                </a:path>
              </a:pathLst>
            </a:custGeom>
            <a:solidFill>
              <a:srgbClr val="372B2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82361" cy="3011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64300" y="2382749"/>
            <a:ext cx="6295000" cy="2244901"/>
            <a:chOff x="0" y="0"/>
            <a:chExt cx="113959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9599" cy="406400"/>
            </a:xfrm>
            <a:custGeom>
              <a:avLst/>
              <a:gdLst/>
              <a:ahLst/>
              <a:cxnLst/>
              <a:rect r="r" b="b" t="t" l="l"/>
              <a:pathLst>
                <a:path h="406400" w="1139599">
                  <a:moveTo>
                    <a:pt x="936399" y="0"/>
                  </a:moveTo>
                  <a:cubicBezTo>
                    <a:pt x="1048624" y="0"/>
                    <a:pt x="1139599" y="90976"/>
                    <a:pt x="1139599" y="203200"/>
                  </a:cubicBezTo>
                  <a:cubicBezTo>
                    <a:pt x="1139599" y="315424"/>
                    <a:pt x="1048624" y="406400"/>
                    <a:pt x="93639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1139599" cy="539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4098" y="2382749"/>
            <a:ext cx="4489803" cy="2244901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2B2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33350"/>
              <a:ext cx="812800" cy="539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64300" y="5659349"/>
            <a:ext cx="6295000" cy="2244901"/>
            <a:chOff x="0" y="0"/>
            <a:chExt cx="1139599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9599" cy="406400"/>
            </a:xfrm>
            <a:custGeom>
              <a:avLst/>
              <a:gdLst/>
              <a:ahLst/>
              <a:cxnLst/>
              <a:rect r="r" b="b" t="t" l="l"/>
              <a:pathLst>
                <a:path h="406400" w="1139599">
                  <a:moveTo>
                    <a:pt x="936399" y="0"/>
                  </a:moveTo>
                  <a:cubicBezTo>
                    <a:pt x="1048624" y="0"/>
                    <a:pt x="1139599" y="90976"/>
                    <a:pt x="1139599" y="203200"/>
                  </a:cubicBezTo>
                  <a:cubicBezTo>
                    <a:pt x="1139599" y="315424"/>
                    <a:pt x="1048624" y="406400"/>
                    <a:pt x="93639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33350"/>
              <a:ext cx="1139599" cy="539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4098" y="5659349"/>
            <a:ext cx="4489803" cy="2244901"/>
            <a:chOff x="0" y="0"/>
            <a:chExt cx="8128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2B2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33350"/>
              <a:ext cx="812800" cy="539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914941" y="8228101"/>
            <a:ext cx="6783529" cy="6783529"/>
          </a:xfrm>
          <a:custGeom>
            <a:avLst/>
            <a:gdLst/>
            <a:ahLst/>
            <a:cxnLst/>
            <a:rect r="r" b="b" t="t" l="l"/>
            <a:pathLst>
              <a:path h="6783529" w="6783529">
                <a:moveTo>
                  <a:pt x="0" y="0"/>
                </a:moveTo>
                <a:lnTo>
                  <a:pt x="6783529" y="0"/>
                </a:lnTo>
                <a:lnTo>
                  <a:pt x="6783529" y="6783528"/>
                </a:lnTo>
                <a:lnTo>
                  <a:pt x="0" y="6783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3245716"/>
            <a:ext cx="5621921" cy="191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11"/>
              </a:lnSpc>
              <a:spcBef>
                <a:spcPct val="0"/>
              </a:spcBef>
            </a:pPr>
            <a:r>
              <a:rPr lang="en-US" b="true" sz="7411" strike="noStrike" u="none">
                <a:solidFill>
                  <a:srgbClr val="FCF0F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Defect Severity Metrics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5861279"/>
            <a:ext cx="562192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FCF0F0"/>
                </a:solidFill>
                <a:latin typeface="Touvlo"/>
                <a:ea typeface="Touvlo"/>
                <a:cs typeface="Touvlo"/>
                <a:sym typeface="Touvlo"/>
              </a:rPr>
              <a:t>Key statistics for understanding defect severity in testing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028664" y="2785999"/>
            <a:ext cx="3585862" cy="1438402"/>
            <a:chOff x="0" y="0"/>
            <a:chExt cx="4781149" cy="191786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38100"/>
              <a:ext cx="4781149" cy="572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7"/>
                </a:lnSpc>
                <a:spcBef>
                  <a:spcPct val="0"/>
                </a:spcBef>
              </a:pPr>
              <a:r>
                <a:rPr lang="en-US" b="true" sz="3052" strike="noStrike" u="none">
                  <a:solidFill>
                    <a:srgbClr val="08091A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Total Critical Defects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833924"/>
              <a:ext cx="4781149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Identified in the last cycle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209201" y="6118708"/>
            <a:ext cx="3585862" cy="1438402"/>
            <a:chOff x="0" y="0"/>
            <a:chExt cx="4781149" cy="191786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38100"/>
              <a:ext cx="4781149" cy="572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7"/>
                </a:lnSpc>
              </a:pPr>
              <a:r>
                <a:rPr lang="en-US" b="true" sz="3052">
                  <a:solidFill>
                    <a:srgbClr val="08091A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Severity Detection Rate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833924"/>
              <a:ext cx="4781149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Rate of critical defects found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447562" y="2916784"/>
            <a:ext cx="4042876" cy="103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7"/>
              </a:lnSpc>
              <a:spcBef>
                <a:spcPct val="0"/>
              </a:spcBef>
            </a:pPr>
            <a:r>
              <a:rPr lang="en-US" b="true" sz="6105" strike="noStrike" u="none">
                <a:solidFill>
                  <a:srgbClr val="FCF0F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1,200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47562" y="6193384"/>
            <a:ext cx="4042876" cy="103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7"/>
              </a:lnSpc>
              <a:spcBef>
                <a:spcPct val="0"/>
              </a:spcBef>
            </a:pPr>
            <a:r>
              <a:rPr lang="en-US" b="true" sz="6105" strike="noStrike" u="none">
                <a:solidFill>
                  <a:srgbClr val="FCF0F0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85%</a:t>
            </a:r>
          </a:p>
        </p:txBody>
      </p:sp>
      <p:sp>
        <p:nvSpPr>
          <p:cNvPr name="Freeform 28" id="28"/>
          <p:cNvSpPr/>
          <p:nvPr/>
        </p:nvSpPr>
        <p:spPr>
          <a:xfrm flipH="true" flipV="false" rot="5400000">
            <a:off x="-1445023" y="-1466447"/>
            <a:ext cx="4216268" cy="4216268"/>
          </a:xfrm>
          <a:custGeom>
            <a:avLst/>
            <a:gdLst/>
            <a:ahLst/>
            <a:cxnLst/>
            <a:rect r="r" b="b" t="t" l="l"/>
            <a:pathLst>
              <a:path h="4216268" w="4216268">
                <a:moveTo>
                  <a:pt x="4216268" y="0"/>
                </a:moveTo>
                <a:lnTo>
                  <a:pt x="0" y="0"/>
                </a:lnTo>
                <a:lnTo>
                  <a:pt x="0" y="4216268"/>
                </a:lnTo>
                <a:lnTo>
                  <a:pt x="4216268" y="4216268"/>
                </a:lnTo>
                <a:lnTo>
                  <a:pt x="42162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8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3451" y="1619762"/>
            <a:ext cx="15366192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30"/>
              </a:lnSpc>
              <a:spcBef>
                <a:spcPct val="0"/>
              </a:spcBef>
            </a:pPr>
            <a:r>
              <a:rPr lang="en-US" b="true" sz="8775">
                <a:solidFill>
                  <a:srgbClr val="08091A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MANUAL VS. AUTOMATED TESTING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400933" y="5143500"/>
            <a:ext cx="6089668" cy="6089668"/>
          </a:xfrm>
          <a:custGeom>
            <a:avLst/>
            <a:gdLst/>
            <a:ahLst/>
            <a:cxnLst/>
            <a:rect r="r" b="b" t="t" l="l"/>
            <a:pathLst>
              <a:path h="6089668" w="6089668">
                <a:moveTo>
                  <a:pt x="6089668" y="0"/>
                </a:moveTo>
                <a:lnTo>
                  <a:pt x="0" y="0"/>
                </a:lnTo>
                <a:lnTo>
                  <a:pt x="0" y="6089668"/>
                </a:lnTo>
                <a:lnTo>
                  <a:pt x="6089668" y="6089668"/>
                </a:lnTo>
                <a:lnTo>
                  <a:pt x="60896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1867646" y="-412039"/>
            <a:ext cx="6806801" cy="6806801"/>
          </a:xfrm>
          <a:custGeom>
            <a:avLst/>
            <a:gdLst/>
            <a:ahLst/>
            <a:cxnLst/>
            <a:rect r="r" b="b" t="t" l="l"/>
            <a:pathLst>
              <a:path h="6806801" w="6806801">
                <a:moveTo>
                  <a:pt x="0" y="0"/>
                </a:moveTo>
                <a:lnTo>
                  <a:pt x="6806801" y="0"/>
                </a:lnTo>
                <a:lnTo>
                  <a:pt x="6806801" y="6806801"/>
                </a:lnTo>
                <a:lnTo>
                  <a:pt x="0" y="68068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3451" y="3520712"/>
          <a:ext cx="16761097" cy="5974012"/>
        </p:xfrm>
        <a:graphic>
          <a:graphicData uri="http://schemas.openxmlformats.org/drawingml/2006/table">
            <a:tbl>
              <a:tblPr/>
              <a:tblGrid>
                <a:gridCol w="5587032"/>
                <a:gridCol w="5587032"/>
                <a:gridCol w="5587032"/>
              </a:tblGrid>
              <a:tr h="12914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b="true" sz="3499">
                          <a:solidFill>
                            <a:srgbClr val="FCF0F0"/>
                          </a:solidFill>
                          <a:latin typeface="Proxima Nova Condensed Bold"/>
                          <a:ea typeface="Proxima Nova Condensed Bold"/>
                          <a:cs typeface="Proxima Nova Condensed Bold"/>
                          <a:sym typeface="Proxima Nova Condensed Bold"/>
                        </a:rPr>
                        <a:t>SUBHEAD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B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b="true" sz="3499">
                          <a:solidFill>
                            <a:srgbClr val="FCF0F0"/>
                          </a:solidFill>
                          <a:latin typeface="Proxima Nova Condensed Bold"/>
                          <a:ea typeface="Proxima Nova Condensed Bold"/>
                          <a:cs typeface="Proxima Nova Condensed Bold"/>
                          <a:sym typeface="Proxima Nova Condensed Bold"/>
                        </a:rPr>
                        <a:t>SUBHEAD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B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b="true" sz="3499">
                          <a:solidFill>
                            <a:srgbClr val="FCF0F0"/>
                          </a:solidFill>
                          <a:latin typeface="Proxima Nova Condensed Bold"/>
                          <a:ea typeface="Proxima Nova Condensed Bold"/>
                          <a:cs typeface="Proxima Nova Condensed Bold"/>
                          <a:sym typeface="Proxima Nova Condensed Bold"/>
                        </a:rPr>
                        <a:t>SUBHEAD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B26"/>
                    </a:solidFill>
                  </a:tcPr>
                </a:tc>
              </a:tr>
              <a:tr h="15608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Elaborate on what you</a:t>
                      </a:r>
                      <a:endParaRPr lang="en-US" sz="1100"/>
                    </a:p>
                    <a:p>
                      <a:pPr algn="ctr">
                        <a:lnSpc>
                          <a:spcPts val="3080"/>
                        </a:lnSpc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want to discuss.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Elaborate on what you</a:t>
                      </a:r>
                      <a:endParaRPr lang="en-US" sz="1100"/>
                    </a:p>
                    <a:p>
                      <a:pPr algn="ctr">
                        <a:lnSpc>
                          <a:spcPts val="3080"/>
                        </a:lnSpc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want to discuss.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Elaborate on what you</a:t>
                      </a:r>
                      <a:endParaRPr lang="en-US" sz="1100"/>
                    </a:p>
                    <a:p>
                      <a:pPr algn="ctr">
                        <a:lnSpc>
                          <a:spcPts val="3080"/>
                        </a:lnSpc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want to discuss.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F"/>
                    </a:solidFill>
                  </a:tcPr>
                </a:tc>
              </a:tr>
              <a:tr h="15608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Elaborate on what you</a:t>
                      </a:r>
                      <a:endParaRPr lang="en-US" sz="1100"/>
                    </a:p>
                    <a:p>
                      <a:pPr algn="ctr">
                        <a:lnSpc>
                          <a:spcPts val="3080"/>
                        </a:lnSpc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want to discuss.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Elaborate on what you</a:t>
                      </a:r>
                      <a:endParaRPr lang="en-US" sz="1100"/>
                    </a:p>
                    <a:p>
                      <a:pPr algn="ctr">
                        <a:lnSpc>
                          <a:spcPts val="3080"/>
                        </a:lnSpc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want to discuss.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Elaborate on what you</a:t>
                      </a:r>
                      <a:endParaRPr lang="en-US" sz="1100"/>
                    </a:p>
                    <a:p>
                      <a:pPr algn="ctr">
                        <a:lnSpc>
                          <a:spcPts val="3080"/>
                        </a:lnSpc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want to discuss.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F"/>
                    </a:solidFill>
                  </a:tcPr>
                </a:tc>
              </a:tr>
              <a:tr h="15608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Elaborate on what you</a:t>
                      </a:r>
                      <a:endParaRPr lang="en-US" sz="1100"/>
                    </a:p>
                    <a:p>
                      <a:pPr algn="ctr">
                        <a:lnSpc>
                          <a:spcPts val="3080"/>
                        </a:lnSpc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want to discuss.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Elaborate on what you</a:t>
                      </a:r>
                      <a:endParaRPr lang="en-US" sz="1100"/>
                    </a:p>
                    <a:p>
                      <a:pPr algn="ctr">
                        <a:lnSpc>
                          <a:spcPts val="3080"/>
                        </a:lnSpc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want to discuss.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Elaborate on what you</a:t>
                      </a:r>
                      <a:endParaRPr lang="en-US" sz="1100"/>
                    </a:p>
                    <a:p>
                      <a:pPr algn="ctr">
                        <a:lnSpc>
                          <a:spcPts val="3080"/>
                        </a:lnSpc>
                      </a:pPr>
                      <a:r>
                        <a:rPr lang="en-US" sz="2200">
                          <a:solidFill>
                            <a:srgbClr val="08091A"/>
                          </a:solidFill>
                          <a:latin typeface="Touvlo"/>
                          <a:ea typeface="Touvlo"/>
                          <a:cs typeface="Touvlo"/>
                          <a:sym typeface="Touvlo"/>
                        </a:rPr>
                        <a:t>want to discuss.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9B0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D8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86615" y="849939"/>
            <a:ext cx="7872685" cy="8587122"/>
            <a:chOff x="0" y="0"/>
            <a:chExt cx="2073464" cy="2261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3465" cy="2261629"/>
            </a:xfrm>
            <a:custGeom>
              <a:avLst/>
              <a:gdLst/>
              <a:ahLst/>
              <a:cxnLst/>
              <a:rect r="r" b="b" t="t" l="l"/>
              <a:pathLst>
                <a:path h="2261629" w="2073465">
                  <a:moveTo>
                    <a:pt x="59003" y="0"/>
                  </a:moveTo>
                  <a:lnTo>
                    <a:pt x="2014461" y="0"/>
                  </a:lnTo>
                  <a:cubicBezTo>
                    <a:pt x="2030110" y="0"/>
                    <a:pt x="2045118" y="6216"/>
                    <a:pt x="2056183" y="17282"/>
                  </a:cubicBezTo>
                  <a:cubicBezTo>
                    <a:pt x="2067248" y="28347"/>
                    <a:pt x="2073465" y="43355"/>
                    <a:pt x="2073465" y="59003"/>
                  </a:cubicBezTo>
                  <a:lnTo>
                    <a:pt x="2073465" y="2202625"/>
                  </a:lnTo>
                  <a:cubicBezTo>
                    <a:pt x="2073465" y="2218274"/>
                    <a:pt x="2067248" y="2233282"/>
                    <a:pt x="2056183" y="2244347"/>
                  </a:cubicBezTo>
                  <a:cubicBezTo>
                    <a:pt x="2045118" y="2255412"/>
                    <a:pt x="2030110" y="2261629"/>
                    <a:pt x="2014461" y="2261629"/>
                  </a:cubicBezTo>
                  <a:lnTo>
                    <a:pt x="59003" y="2261629"/>
                  </a:lnTo>
                  <a:cubicBezTo>
                    <a:pt x="43355" y="2261629"/>
                    <a:pt x="28347" y="2255412"/>
                    <a:pt x="17282" y="2244347"/>
                  </a:cubicBezTo>
                  <a:cubicBezTo>
                    <a:pt x="6216" y="2233282"/>
                    <a:pt x="0" y="2218274"/>
                    <a:pt x="0" y="2202625"/>
                  </a:cubicBezTo>
                  <a:lnTo>
                    <a:pt x="0" y="59003"/>
                  </a:lnTo>
                  <a:cubicBezTo>
                    <a:pt x="0" y="43355"/>
                    <a:pt x="6216" y="28347"/>
                    <a:pt x="17282" y="17282"/>
                  </a:cubicBezTo>
                  <a:cubicBezTo>
                    <a:pt x="28347" y="6216"/>
                    <a:pt x="43355" y="0"/>
                    <a:pt x="59003" y="0"/>
                  </a:cubicBezTo>
                  <a:close/>
                </a:path>
              </a:pathLst>
            </a:custGeom>
            <a:solidFill>
              <a:srgbClr val="FFF5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73464" cy="2299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974920" y="-310209"/>
            <a:ext cx="10043971" cy="6515772"/>
            <a:chOff x="0" y="0"/>
            <a:chExt cx="8848746" cy="5740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50016" cy="5741670"/>
            </a:xfrm>
            <a:custGeom>
              <a:avLst/>
              <a:gdLst/>
              <a:ahLst/>
              <a:cxnLst/>
              <a:rect r="r" b="b" t="t" l="l"/>
              <a:pathLst>
                <a:path h="5741670" w="8850016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338022" y="2933700"/>
                    <a:pt x="755683" y="2933700"/>
                  </a:cubicBezTo>
                  <a:lnTo>
                    <a:pt x="1599853" y="2933700"/>
                  </a:lnTo>
                  <a:cubicBezTo>
                    <a:pt x="2017514" y="2933700"/>
                    <a:pt x="2355536" y="3176270"/>
                    <a:pt x="2355536" y="3475990"/>
                  </a:cubicBezTo>
                  <a:lnTo>
                    <a:pt x="2355536" y="5199380"/>
                  </a:lnTo>
                  <a:cubicBezTo>
                    <a:pt x="2355536" y="5499100"/>
                    <a:pt x="2693558" y="5741670"/>
                    <a:pt x="3111219" y="5741670"/>
                  </a:cubicBezTo>
                  <a:lnTo>
                    <a:pt x="5015469" y="5741670"/>
                  </a:lnTo>
                  <a:cubicBezTo>
                    <a:pt x="5204833" y="5741670"/>
                    <a:pt x="5388886" y="5689600"/>
                    <a:pt x="5528696" y="5598160"/>
                  </a:cubicBezTo>
                  <a:lnTo>
                    <a:pt x="8608060" y="3553460"/>
                  </a:lnTo>
                  <a:cubicBezTo>
                    <a:pt x="8762029" y="3450590"/>
                    <a:pt x="8850016" y="3307080"/>
                    <a:pt x="8850016" y="3155950"/>
                  </a:cubicBezTo>
                  <a:lnTo>
                    <a:pt x="8850016" y="542290"/>
                  </a:lnTo>
                  <a:cubicBezTo>
                    <a:pt x="8848746" y="242570"/>
                    <a:pt x="8510724" y="0"/>
                    <a:pt x="8093063" y="0"/>
                  </a:cubicBezTo>
                  <a:lnTo>
                    <a:pt x="755683" y="0"/>
                  </a:lnTo>
                  <a:cubicBezTo>
                    <a:pt x="338022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2"/>
              <a:stretch>
                <a:fillRect l="-292" t="0" r="-292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416859" y="2721030"/>
            <a:ext cx="3239871" cy="3239871"/>
          </a:xfrm>
          <a:custGeom>
            <a:avLst/>
            <a:gdLst/>
            <a:ahLst/>
            <a:cxnLst/>
            <a:rect r="r" b="b" t="t" l="l"/>
            <a:pathLst>
              <a:path h="3239871" w="3239871">
                <a:moveTo>
                  <a:pt x="0" y="0"/>
                </a:moveTo>
                <a:lnTo>
                  <a:pt x="3239871" y="0"/>
                </a:lnTo>
                <a:lnTo>
                  <a:pt x="3239871" y="3239871"/>
                </a:lnTo>
                <a:lnTo>
                  <a:pt x="0" y="32398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5400000">
            <a:off x="-722587" y="-1163382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4107318" y="0"/>
                </a:moveTo>
                <a:lnTo>
                  <a:pt x="0" y="0"/>
                </a:lnTo>
                <a:lnTo>
                  <a:pt x="0" y="4114800"/>
                </a:lnTo>
                <a:lnTo>
                  <a:pt x="4107318" y="4114800"/>
                </a:lnTo>
                <a:lnTo>
                  <a:pt x="410731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17644" y="6668357"/>
            <a:ext cx="7687376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9000">
                <a:solidFill>
                  <a:srgbClr val="08091A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Challenges in Manual Testing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116885" y="2351818"/>
            <a:ext cx="6412145" cy="5583364"/>
            <a:chOff x="0" y="0"/>
            <a:chExt cx="8549527" cy="744448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9525"/>
              <a:ext cx="8549527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b="true" sz="3499">
                  <a:solidFill>
                    <a:srgbClr val="08091A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Key obstacles faced by testing teams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890141"/>
              <a:ext cx="8549527" cy="5554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3" indent="-259082" lvl="1">
                <a:lnSpc>
                  <a:spcPts val="336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Managing tight deadlines</a:t>
              </a:r>
              <a:r>
                <a:rPr lang="en-US" sz="24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for test completion</a:t>
              </a:r>
            </a:p>
            <a:p>
              <a:pPr algn="l" marL="518163" indent="-259082" lvl="1">
                <a:lnSpc>
                  <a:spcPts val="336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Maintaining required skill levels</a:t>
              </a:r>
              <a:r>
                <a:rPr lang="en-US" sz="24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among testers</a:t>
              </a:r>
            </a:p>
            <a:p>
              <a:pPr algn="l" marL="518163" indent="-259082" lvl="1">
                <a:lnSpc>
                  <a:spcPts val="336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Reducing human error</a:t>
              </a:r>
              <a:r>
                <a:rPr lang="en-US" sz="24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in testing processes</a:t>
              </a:r>
            </a:p>
            <a:p>
              <a:pPr algn="l" marL="518163" indent="-259082" lvl="1">
                <a:lnSpc>
                  <a:spcPts val="336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Ensuring comprehensive test coverage</a:t>
              </a:r>
              <a:r>
                <a:rPr lang="en-US" sz="24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of features</a:t>
              </a:r>
            </a:p>
            <a:p>
              <a:pPr algn="l" marL="518163" indent="-259082" lvl="1">
                <a:lnSpc>
                  <a:spcPts val="336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400" strike="noStrike" u="none">
                  <a:solidFill>
                    <a:srgbClr val="08091A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Balancing resource allocation</a:t>
              </a:r>
              <a:r>
                <a:rPr lang="en-US" sz="2400" strike="noStrike" u="none">
                  <a:solidFill>
                    <a:srgbClr val="08091A"/>
                  </a:solidFill>
                  <a:latin typeface="Touvlo"/>
                  <a:ea typeface="Touvlo"/>
                  <a:cs typeface="Touvlo"/>
                  <a:sym typeface="Touvlo"/>
                </a:rPr>
                <a:t> for different projects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SQA Manual Testing</dc:description>
  <dc:identifier>DAG0S8uXCc8</dc:identifier>
  <dcterms:modified xsi:type="dcterms:W3CDTF">2011-08-01T06:04:30Z</dcterms:modified>
  <cp:revision>1</cp:revision>
  <dc:title>SQA Manual Testing Slide For Beginners</dc:title>
</cp:coreProperties>
</file>